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15"/>
    <p:sldId id="265" r:id="rId16"/>
    <p:sldId id="266" r:id="rId17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Train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Reg. Lineal</c:v>
                  </c:pt>
                  <c:pt idx="1">
                    <c:v>XGBoost</c:v>
                  </c:pt>
                  <c:pt idx="2">
                    <c:v>Gradient Boosting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0.487</c:v>
                </c:pt>
                <c:pt idx="1">
                  <c:v>0.612</c:v>
                </c:pt>
                <c:pt idx="2">
                  <c:v>0.594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R² Test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Reg. Lineal</c:v>
                  </c:pt>
                  <c:pt idx="1">
                    <c:v>XGBoost</c:v>
                  </c:pt>
                  <c:pt idx="2">
                    <c:v>Gradient Boosting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0.478</c:v>
                </c:pt>
                <c:pt idx="1">
                  <c:v>0.552</c:v>
                </c:pt>
                <c:pt idx="2">
                  <c:v>0.532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Modelos de Regresión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precios de Airbnb — Copenhagen, Dinamarca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2743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05 — Organización de Datos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Zardain · Pezman · Sein · Piccin · Torres Vargas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Inside Airbnb · Septiembre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Dataset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57200" y="1097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13,444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activos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0058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91840" y="1097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9184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9184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originales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0" y="10058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126480" y="1097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12648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12648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coronas danesas (DKK)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destacables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0080" y="3108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accommodates, bedrooms, bathrooms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46320" y="3108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del alojamiento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3429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neighbourhood_cleansed, latitude, longitude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46320" y="3429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geográfica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room_type, property_type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4632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alojamiento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" y="4069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availability_365, reviews_per_month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46320" y="4069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y popularidad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008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amenities (36 categorías extraídas)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84632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Comodidades del lugar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40080" y="4709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dist_centro_km (calculada)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846320" y="4709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al centro de Copenhagen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Preprocesamiento y Transformaciones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960120"/>
            <a:ext cx="54864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468880" y="960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 columnas sin variabilidad, URLs, IDs, texto libre. Remoción de registros sin precio.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54864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46888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variables altamente correlacionadas (availability_30/60/90 → solo 365, review scores → solo rating).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965960"/>
            <a:ext cx="54864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Amenities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468880" y="1965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~2000 amenities únicas categorizadas en 36 variables binarias (elevator, free_parking, premium_sound, has_ac, etc.).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468880"/>
            <a:ext cx="54864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→ días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468880" y="2468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host_since, first_review, last_review convertidas a días transcurridos.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971800"/>
            <a:ext cx="54864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468880" y="2971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de property_type (agrupados tipos raros), room_type y neighbourhood.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474720"/>
            <a:ext cx="54864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variables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46888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dist_centro_km (haversine), bedrooms_per_guest, bathrooms_per_guest, is_professional_host.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977640"/>
            <a:ext cx="54864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468880" y="3977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&gt; 3 en precio, eliminando ~1.5% de registros extremos.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480560"/>
            <a:ext cx="54864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" y="4480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CLIP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468880" y="4480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exploró análisis de fotos con CLIP pero la correlación fue 0.09 → descartado.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1: Regresión Lineal Múltiple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una función lineal y = β₀ + β₁x₁ + β₂x₂ + ... + βₙxₙ minimizando el error cuadrático.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más influyentes (coeficientes estandarizados)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0" y="1783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+174 DKK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+162 DKK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dist_centro_km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0040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-148 DKK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1440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availability_365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2004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+146 DKK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1440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(Indre By)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20040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+127 DKK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1440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200400" y="3383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+113 DKK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0292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29200" y="182880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02920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02920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0.487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5029200" y="2560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029200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364 DKK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560 DKK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132320" y="182880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13232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13232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0.478</a:t>
            </a:r>
            <a:endParaRPr lang="en-US" sz="2800" dirty="0"/>
          </a:p>
        </p:txBody>
      </p:sp>
      <p:sp>
        <p:nvSpPr>
          <p:cNvPr id="33" name="Text 30"/>
          <p:cNvSpPr/>
          <p:nvPr/>
        </p:nvSpPr>
        <p:spPr>
          <a:xfrm>
            <a:off x="7132320" y="2560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132320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366 DKK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545 DKK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029200" y="3611880"/>
            <a:ext cx="3931920" cy="36576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3639312"/>
            <a:ext cx="274320" cy="27432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5486400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Overfitting: ~0 (∆R² ≈ 0.009)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457200" y="42062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Limitación: la relación precio-features no es lineal. El modelo no puede capturar interacciones complejas entre variables (ej: habitaciones × ubicación).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2: XGBoost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de árboles de decisión entrenados secuencialmente; cada árbol corrige los errores del anterior.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hiperparámetros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con 30 iteraciones y 5-fold cross-validation, optimizando R².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43891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explorado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468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743200" y="2468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200, 300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2715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43200" y="2715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29626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743200" y="29626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0.01, 0.05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32095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743200" y="32095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0.7, 0.8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3456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reg_alpha (L1)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743200" y="3456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0, 0.1, 1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" y="3703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reg_lambda (L2)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743200" y="3703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1, 5, 10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0080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min_child_weight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743200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1, 5, 10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303520" y="1371600"/>
            <a:ext cx="1737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303520" y="1417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30352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0.612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5303520" y="21031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303520" y="2377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312 DKK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487 DKK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315200" y="1371600"/>
            <a:ext cx="1737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315200" y="1417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31520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0.552</a:t>
            </a:r>
            <a:endParaRPr lang="en-US" sz="2800" dirty="0"/>
          </a:p>
        </p:txBody>
      </p:sp>
      <p:sp>
        <p:nvSpPr>
          <p:cNvPr id="32" name="Text 29"/>
          <p:cNvSpPr/>
          <p:nvPr/>
        </p:nvSpPr>
        <p:spPr>
          <a:xfrm>
            <a:off x="7315200" y="21031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315200" y="2377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332 DKK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505 DKK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303520" y="3200400"/>
            <a:ext cx="3749040" cy="36576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3227832"/>
            <a:ext cx="274320" cy="27432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76072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controlado: ∆R² = 0.060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457200" y="44805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+15.5% en R² respecto a regresión lineal gracias a la captura de interacciones no lineales entre variables.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3: Gradient Boosting (sklearn)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a XGBoost pero con una implementación diferente. Se usa como punto de comparación.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Justificación: al ser conceptualmente similar a XGBoost pero con una implementación más simple (sklearn), permite evaluar si la complejidad adicional de XGBoost se justifica en este problema. Se usó cross-validation con 5 folds.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228600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82880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1752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651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828800" y="2651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0.594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017520" y="2651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0.532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828800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321 DKK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017520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337 DKK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3291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828800" y="3291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 DKK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017520" y="3291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516 DKK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3931920"/>
            <a:ext cx="3840480" cy="36576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59352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1440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controlado: ∆R² = 0.062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029200" y="2286000"/>
            <a:ext cx="3931920" cy="20116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3" name="Text 19"/>
          <p:cNvSpPr/>
          <p:nvPr/>
        </p:nvSpPr>
        <p:spPr>
          <a:xfrm>
            <a:off x="521208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vs XGBoost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212080" y="27432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son ensembles de árboles secuenciales. XGBoost agrega regularización L1/L2 y optimizaciones de velocidad. En este caso XGBoost obtiene +2% en R² test con overfitting similar, lo que justifica su mayor complejidad.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Cuadro Comparativo (TEST)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1005840"/>
                <a:gridCol w="1005840"/>
                <a:gridCol w="822960"/>
                <a:gridCol w="8229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∆R²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Reg. Lineal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lineal, suma ponderada de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366 DKK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545 DKK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de árboles secuenciales con regularización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332 DKK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 DKK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de árboles secuenciales (sklearn)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337 DKK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516 DKK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Train vs Test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3383280"/>
          <a:ext cx="82296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Elección del Modelo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</a:t>
            </a:r>
            <a:endParaRPr lang="en-US" sz="4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6596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19659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R² en test (0.552) — explica un 55% de la variación del precio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2316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24231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bajo (∆R² = 0.060), similar a Gradient Boosting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80360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28803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interacciones no lineales que la regresión lineal no puede modelar</a:t>
            </a:r>
            <a:endParaRPr lang="en-US" sz="14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337560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97280" y="33375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regularización L1/L2 controla la complejidad sin sacrificar performance</a:t>
            </a:r>
            <a:endParaRPr lang="en-US" sz="1400" dirty="0"/>
          </a:p>
        </p:txBody>
      </p:sp>
      <p:sp>
        <p:nvSpPr>
          <p:cNvPr id="14" name="Shape 7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5" name="Text 8"/>
          <p:cNvSpPr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techo de R² ≈ 0.55 es esperable para este problema: factores como la decoración, calidad del espacio y demanda estacional no están capturados en los datos. Trabajos similares reportan R² de 0.41-0.64 con regresión lineal (Camatti et al., 2024).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3657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Georgia"/>
              </a:rPr>
              <a:t>Por qué eliminamos columnas y registros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Decisiones de limpieza tomadas durante el preprocesamiento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4023360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Georgia"/>
              </a:rPr>
              <a:t>75 → 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7160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Columnas conservadas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6459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tras la limpieza inicial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280160"/>
            <a:ext cx="4023360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325880"/>
            <a:ext cx="16459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Georgia"/>
              </a:rPr>
              <a:t>13,270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Registros conservados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de 13,444 originales (~98.7%)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77439"/>
            <a:ext cx="54864" cy="320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3172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</a:rPr>
              <a:t>Sin variable objetivo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331720"/>
            <a:ext cx="6126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Registros sin "price" no se pueden usar para entrenamiento; tampoco era reconstruible desde estimated_revenue_l365d.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34639"/>
            <a:ext cx="54864" cy="320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8892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</a:rPr>
              <a:t>Identificadores y URLs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788920"/>
            <a:ext cx="6126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id, host_id, scrape_id, listing_url, host_url y similares no aportan información predictiva, solo ruido.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91839"/>
            <a:ext cx="54864" cy="320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4612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</a:rPr>
              <a:t>Texto libre y metadatos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246120"/>
            <a:ext cx="6126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name, description, host_about, neighborhood_overview: texto sesgado escrito por hosts, difícil de modelar sin NLP profundo.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49039"/>
            <a:ext cx="54864" cy="320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0332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</a:rPr>
              <a:t>Variabilidad casi nula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703320"/>
            <a:ext cx="6126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has_availability (98% "true") y host_has_profile_pic: aportan poca señal al modelo.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206240"/>
            <a:ext cx="54864" cy="320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16052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</a:rPr>
              <a:t>Data leakage detectado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160520"/>
            <a:ext cx="6126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estimated_revenue_l365d tenía correlación 1.0 con price × occupancy — filtraría el target al modelo.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663440"/>
            <a:ext cx="54864" cy="320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61772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</a:rPr>
              <a:t>Imagen CLIP descartada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617720"/>
            <a:ext cx="6126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Análisis de 500 fotos con CLIP arrojó correlación de solo 0.09 con el precio: no justifica procesar las 13K imágenes.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3657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Georgia"/>
              </a:rPr>
              <a:t>Análisis de correlaciones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Detección de variables redundantes con correlación &gt; 0.8</a:t>
            </a:r>
          </a:p>
        </p:txBody>
      </p:sp>
      <p:pic>
        <p:nvPicPr>
          <p:cNvPr id="5" name="Picture 4" descr="correla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4754880" cy="3749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1280160"/>
            <a:ext cx="374903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Grupos redundantes detectados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1737360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691640"/>
            <a:ext cx="35661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Calibri"/>
              </a:rPr>
              <a:t>Disponibilidad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901952"/>
            <a:ext cx="35661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B82F6"/>
                </a:solidFill>
                <a:latin typeface="Consolas"/>
              </a:rPr>
              <a:t>availability_30/60/90/365 → 365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103120"/>
            <a:ext cx="35661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→ la más completa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2331720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286000"/>
            <a:ext cx="35661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Calibri"/>
              </a:rPr>
              <a:t>Reseñas (cantidad)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496312"/>
            <a:ext cx="35661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B82F6"/>
                </a:solidFill>
                <a:latin typeface="Consolas"/>
              </a:rPr>
              <a:t>reviews_per_month, _ltm, _l30d → reviews_per_month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697480"/>
            <a:ext cx="35661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→ mide popularidad y vigencia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2926079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2880360"/>
            <a:ext cx="35661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Calibri"/>
              </a:rPr>
              <a:t>Listings del 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090672"/>
            <a:ext cx="35661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B82F6"/>
                </a:solidFill>
                <a:latin typeface="Consolas"/>
              </a:rPr>
              <a:t>host_listings_count, host_total → calculated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291840"/>
            <a:ext cx="35661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→ calculado por Airbnb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3520439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3474720"/>
            <a:ext cx="35661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Calibri"/>
              </a:rPr>
              <a:t>Mín./máx. noches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685032"/>
            <a:ext cx="35661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B82F6"/>
                </a:solidFill>
                <a:latin typeface="Consolas"/>
              </a:rPr>
              <a:t>8 variantes de min/max → minimum + maximum_nights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886200"/>
            <a:ext cx="35661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→ el resto son redundantes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4114800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4069080"/>
            <a:ext cx="35661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Calibri"/>
              </a:rPr>
              <a:t>Reseñas (calificación)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279392"/>
            <a:ext cx="35661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B82F6"/>
                </a:solidFill>
                <a:latin typeface="Consolas"/>
              </a:rPr>
              <a:t>7 review_scores → review_scores_rating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4480560"/>
            <a:ext cx="35661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→ representa la calificación general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773168"/>
            <a:ext cx="841248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Calibri"/>
              </a:rPr>
              <a:t>Resultado: ~20 columnas redundantes eliminadas, manteniendo la información esencial sin colinealidad.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3657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Georgia"/>
              </a:rPr>
              <a:t>Tratamiento de outliers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Filtrado por z-score sobre la variable price</a:t>
            </a:r>
          </a:p>
        </p:txBody>
      </p:sp>
      <p:pic>
        <p:nvPicPr>
          <p:cNvPr id="5" name="Picture 4" descr="outliers_pre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852160" cy="2331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280160"/>
            <a:ext cx="2468880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5331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3B82F6"/>
                </a:solidFill>
                <a:latin typeface="Georgia"/>
              </a:rPr>
              <a:t>~1.5%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registros eliminados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240280"/>
            <a:ext cx="2468880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31343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3B82F6"/>
                </a:solidFill>
                <a:latin typeface="Georgia"/>
              </a:rPr>
              <a:t>z &gt;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umbral aplicado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¿Por qué solo limpiamos outliers en price?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187952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</a:rPr>
              <a:t>Variable objetivo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62272"/>
            <a:ext cx="25603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Es la que más afecta el entrenamiento — outliers extremos distorsionan los pesos.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41148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4187952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</a:rPr>
              <a:t>Pérdida acotada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462272"/>
            <a:ext cx="25603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Solo 1.5% de registros — costo aceptable frente a la mejora en estabilidad.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1148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187952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</a:rPr>
              <a:t>Otras variables intactas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462272"/>
            <a:ext cx="25603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Limpiar outliers en otras columnas implicaba sacrificar muchos más registros.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TP1 - Ejercicio 3 - Modelos de Regresión</dc:title>
  <dc:subject>PptxGenJS Presentation</dc:subject>
  <dc:creator>Grupo 05</dc:creator>
  <cp:lastModifiedBy>Grupo 05</cp:lastModifiedBy>
  <cp:revision>1</cp:revision>
  <dcterms:created xsi:type="dcterms:W3CDTF">2026-04-20T23:35:58Z</dcterms:created>
  <dcterms:modified xsi:type="dcterms:W3CDTF">2026-04-20T23:35:58Z</dcterms:modified>
</cp:coreProperties>
</file>